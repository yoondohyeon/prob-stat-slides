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01회차 시작. 확률분포 단원 전체의 출발점이 되는 개념 소개.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오늘의 목표 3가지 안내. 이산과 연속의 구분이 이후 이항분포·정규분포로 이어지는 핵심.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81쪽 탐구하기. 표본공간 S = {(H,H), (H,T), (T,H), (T,T)}. 근원사건 4개가 X의 값 2, 1, 0에 대응. 서로 다른 근원사건 (H,T), (T,H)가 같은 값 1에 대응하는 점 강조.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9" name="Shape 1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정의는 교과서 81쪽 표기 그대로. 공학 예시 3가지는 자체 예시 (교과서 외). 불량품 개수는 셀 수 있는 값, 수명과 오차는 구간 안의 모든 실수라는 차이로 다음 슬라이드 연결.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이산: 값이 유한개이거나 자연수처럼 셀 수 있는 경우 (교과서 82쪽). 연속: 어떤 범위에 속하는 모든 실수 값 (교과서 84쪽). 예시로 불량품 개수 vs 대기 시간 대비.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82쪽 보기. 동전 두 번에서 X의 확률분포. 표와 그래프는 같은 정보의 두 표현. P(X=x)를 확률질량함수라고 부름.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82쪽 성질 1, 2. 띠그래프로 '전체 합 = 1' 시각화. 분포표의 빈칸 문제는 성질 2로 해결.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자체 예시 (교과서 외). 각 부품의 불량 여부가 서로 독립이라는 가정. P(X=0)=0.9³=0.729, P(X=1)=3×0.1×0.9²=0.243, P(X=2)=3×0.1²×0.9=0.027, P(X=3)=0.1³=0.001. 합계 1 확인. 다음 회차 이항분포의 예고.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84쪽 생각 열기. P(a≤X≤b) = (b-a)/10. 확률 = 그래프 아래 넓이라는 관점의 시작. f(x)=1/10의 그래프와 x축 사이 전체 넓이 1.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85쪽 성질 1~3. 이산의 '합 = 1'이 연속에서는 '넓이 = 1'로 바뀌는 대응 관계 강조.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Shape 2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교과서 85쪽 생각과 표현. P(a≤X≤b) = P(a≤X&lt;b) + P(X=b), P(X=b)=0. 따라서 P(a≤X≤b) = P(a&lt;X≤b) = P(a&lt;X&lt;b). 이산확률변수에서는 성립하지 않는 점 주의.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Shape 2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자체 예시 (교과서 외). 확률밀도함수 f(x) = (1/1000)e^(-x/1000), x ≥ 0 (지수분포, 교과서 범위 밖이므로 식은 참고용). P(X≤500) = 1 - e^(-0.5) ≈ 0.39. 신뢰성 공학의 출발점이라는 동기 부여용.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Shape 2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오늘 내용 정리. 합 ↔ 넓이 대응이 핵심.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6" name="Shape 2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정답. Q1: 0, 1, 2, 3 (교과서 81쪽 문제 1). Q2: k + 2k + 3k = 1 → k = 1/6, P(X ≥ 2) = 2k + 3k = 5/6. Q3: 넓이 (1/2)×4×4k = 1 → k = 1/8, P(0≤X≤2) = (1/2)×2×(2/8) = 1/4 (교과서 85쪽 문제 3).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822960" y="2331720"/>
            <a:ext cx="137161" cy="173736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234439" y="1463039"/>
            <a:ext cx="9966961" cy="41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C8D6E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확률과 통계  </a:t>
            </a:r>
            <a:r>
              <a:t>|  Ⅲ.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통계 </a:t>
            </a:r>
            <a:r>
              <a:t>– 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234439" y="2240279"/>
            <a:ext cx="9966961" cy="96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5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확률변수와 확률분포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1234439" y="3337559"/>
            <a:ext cx="9966961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sz="26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우연한 결과를 수로 바꾸는 방법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1234439" y="5669279"/>
            <a:ext cx="9966961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C8D6E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공과대학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학년  </a:t>
            </a:r>
            <a:r>
              <a:t>·  01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회차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822960" y="384047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30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학습목표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7" name="Oval 5"/>
          <p:cNvSpPr/>
          <p:nvPr/>
        </p:nvSpPr>
        <p:spPr>
          <a:xfrm>
            <a:off x="1097279" y="1828799"/>
            <a:ext cx="1005842" cy="1005842"/>
          </a:xfrm>
          <a:prstGeom prst="ellipse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6"/>
          <p:cNvSpPr txBox="1"/>
          <p:nvPr/>
        </p:nvSpPr>
        <p:spPr>
          <a:xfrm>
            <a:off x="1143000" y="2076449"/>
            <a:ext cx="91440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8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9" name="TextBox 7"/>
          <p:cNvSpPr txBox="1"/>
          <p:nvPr/>
        </p:nvSpPr>
        <p:spPr>
          <a:xfrm>
            <a:off x="2514599" y="2057649"/>
            <a:ext cx="8595361" cy="54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1000"/>
              </a:spcBef>
              <a:defRPr sz="2800">
                <a:solidFill>
                  <a:srgbClr val="22222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확률변수의 뜻</a:t>
            </a:r>
          </a:p>
        </p:txBody>
      </p:sp>
      <p:sp>
        <p:nvSpPr>
          <p:cNvPr id="110" name="Oval 8"/>
          <p:cNvSpPr/>
          <p:nvPr/>
        </p:nvSpPr>
        <p:spPr>
          <a:xfrm>
            <a:off x="1097279" y="3154679"/>
            <a:ext cx="1005842" cy="1005841"/>
          </a:xfrm>
          <a:prstGeom prst="ellipse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9"/>
          <p:cNvSpPr txBox="1"/>
          <p:nvPr/>
        </p:nvSpPr>
        <p:spPr>
          <a:xfrm>
            <a:off x="1143000" y="3402329"/>
            <a:ext cx="91440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8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2" name="TextBox 10"/>
          <p:cNvSpPr txBox="1"/>
          <p:nvPr/>
        </p:nvSpPr>
        <p:spPr>
          <a:xfrm>
            <a:off x="2514599" y="3383529"/>
            <a:ext cx="8595361" cy="54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1000"/>
              </a:spcBef>
              <a:defRPr sz="2800">
                <a:solidFill>
                  <a:srgbClr val="22222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이산확률변수와 확률질량함수의 성질</a:t>
            </a:r>
          </a:p>
        </p:txBody>
      </p:sp>
      <p:sp>
        <p:nvSpPr>
          <p:cNvPr id="113" name="Oval 11"/>
          <p:cNvSpPr/>
          <p:nvPr/>
        </p:nvSpPr>
        <p:spPr>
          <a:xfrm>
            <a:off x="1097279" y="4480559"/>
            <a:ext cx="1005842" cy="1005841"/>
          </a:xfrm>
          <a:prstGeom prst="ellipse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12"/>
          <p:cNvSpPr txBox="1"/>
          <p:nvPr/>
        </p:nvSpPr>
        <p:spPr>
          <a:xfrm>
            <a:off x="1143000" y="4728209"/>
            <a:ext cx="91440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8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5" name="TextBox 13"/>
          <p:cNvSpPr txBox="1"/>
          <p:nvPr/>
        </p:nvSpPr>
        <p:spPr>
          <a:xfrm>
            <a:off x="2514599" y="4709409"/>
            <a:ext cx="8595361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1000"/>
              </a:spcBef>
              <a:defRPr sz="2800">
                <a:solidFill>
                  <a:srgbClr val="22222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연속확률변수와 확률밀도함수의 성질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동전 두 번 던지기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결과를 수로 바꾸기</a:t>
            </a:r>
          </a:p>
        </p:txBody>
      </p:sp>
      <p:sp>
        <p:nvSpPr>
          <p:cNvPr id="121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앞면 </a:t>
            </a:r>
            <a:r>
              <a:t>H,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뒷면 </a:t>
            </a:r>
            <a:r>
              <a:t>T  |  X 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앞면이 나온 횟수</a:t>
            </a:r>
          </a:p>
        </p:txBody>
      </p:sp>
      <p:sp>
        <p:nvSpPr>
          <p:cNvPr id="122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19" y="1960595"/>
            <a:ext cx="6035042" cy="403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Rounded Rectangle 7"/>
          <p:cNvSpPr/>
          <p:nvPr/>
        </p:nvSpPr>
        <p:spPr>
          <a:xfrm>
            <a:off x="7132319" y="2194560"/>
            <a:ext cx="4480561" cy="310896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8"/>
          <p:cNvSpPr txBox="1"/>
          <p:nvPr/>
        </p:nvSpPr>
        <p:spPr>
          <a:xfrm>
            <a:off x="7452360" y="2377439"/>
            <a:ext cx="3840481" cy="41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20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관찰 포인트</a:t>
            </a:r>
          </a:p>
        </p:txBody>
      </p:sp>
      <p:sp>
        <p:nvSpPr>
          <p:cNvPr id="127" name="TextBox 9"/>
          <p:cNvSpPr txBox="1"/>
          <p:nvPr/>
        </p:nvSpPr>
        <p:spPr>
          <a:xfrm>
            <a:off x="7452360" y="2880360"/>
            <a:ext cx="3840481" cy="1313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근원사건마다 실수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개가 대응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(H, T), (T, H)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같은 값 </a:t>
            </a:r>
            <a:r>
              <a:t>1</a:t>
            </a: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결과가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수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되는 순간 계산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확률변수 </a:t>
            </a:r>
            <a:r>
              <a:t>(random variable)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sz="2000"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표본공간의 각 근원사건에 하나의 실수를 대응시키는 관계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35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822960" y="1691639"/>
            <a:ext cx="10424161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22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공학 속 확률변수</a:t>
            </a:r>
          </a:p>
        </p:txBody>
      </p:sp>
      <p:pic>
        <p:nvPicPr>
          <p:cNvPr id="137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2752701"/>
            <a:ext cx="11064241" cy="29070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확률변수의 두 종류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이산과 연속</a:t>
            </a:r>
          </a:p>
        </p:txBody>
      </p:sp>
      <p:sp>
        <p:nvSpPr>
          <p:cNvPr id="143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핵심 기준은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취하는 값을 셀 수 있는지 여부</a:t>
            </a:r>
            <a:r>
              <a:t>'</a:t>
            </a:r>
          </a:p>
        </p:txBody>
      </p:sp>
      <p:sp>
        <p:nvSpPr>
          <p:cNvPr id="144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45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14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19" y="1819971"/>
            <a:ext cx="6766561" cy="3126617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Rounded Rectangle 7"/>
          <p:cNvSpPr/>
          <p:nvPr/>
        </p:nvSpPr>
        <p:spPr>
          <a:xfrm>
            <a:off x="7863840" y="1783079"/>
            <a:ext cx="3749040" cy="182880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8"/>
          <p:cNvSpPr txBox="1"/>
          <p:nvPr/>
        </p:nvSpPr>
        <p:spPr>
          <a:xfrm>
            <a:off x="8183879" y="1965960"/>
            <a:ext cx="310896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19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이산확률변수</a:t>
            </a:r>
          </a:p>
        </p:txBody>
      </p:sp>
      <p:sp>
        <p:nvSpPr>
          <p:cNvPr id="149" name="TextBox 9"/>
          <p:cNvSpPr txBox="1"/>
          <p:nvPr/>
        </p:nvSpPr>
        <p:spPr>
          <a:xfrm>
            <a:off x="8183879" y="2468879"/>
            <a:ext cx="3108960" cy="836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불량품 개수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고객 수</a:t>
            </a:r>
            <a:r>
              <a:t>,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주사위 눈</a:t>
            </a:r>
          </a:p>
        </p:txBody>
      </p:sp>
      <p:sp>
        <p:nvSpPr>
          <p:cNvPr id="150" name="Rounded Rectangle 10"/>
          <p:cNvSpPr/>
          <p:nvPr/>
        </p:nvSpPr>
        <p:spPr>
          <a:xfrm>
            <a:off x="7863840" y="3794759"/>
            <a:ext cx="3749040" cy="182880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1"/>
          <p:cNvSpPr txBox="1"/>
          <p:nvPr/>
        </p:nvSpPr>
        <p:spPr>
          <a:xfrm>
            <a:off x="8183879" y="3977640"/>
            <a:ext cx="310896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19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연속확률변수</a:t>
            </a:r>
          </a:p>
        </p:txBody>
      </p:sp>
      <p:sp>
        <p:nvSpPr>
          <p:cNvPr id="152" name="TextBox 12"/>
          <p:cNvSpPr txBox="1"/>
          <p:nvPr/>
        </p:nvSpPr>
        <p:spPr>
          <a:xfrm>
            <a:off x="8183879" y="4480559"/>
            <a:ext cx="3108960" cy="836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대기 시간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부품 수명</a:t>
            </a:r>
            <a:r>
              <a:t>,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측정 오차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30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이산확률변수의 확률분포</a:t>
            </a:r>
          </a:p>
        </p:txBody>
      </p:sp>
      <p:sp>
        <p:nvSpPr>
          <p:cNvPr id="158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값과 각 값의 확률 사이의 관계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</a:t>
            </a:r>
          </a:p>
        </p:txBody>
      </p:sp>
      <p:sp>
        <p:nvSpPr>
          <p:cNvPr id="159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60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6</a:t>
            </a:r>
          </a:p>
        </p:txBody>
      </p:sp>
      <p:graphicFrame>
        <p:nvGraphicFramePr>
          <p:cNvPr id="161" name="Table 6"/>
          <p:cNvGraphicFramePr/>
          <p:nvPr/>
        </p:nvGraphicFramePr>
        <p:xfrm>
          <a:off x="822960" y="2103120"/>
          <a:ext cx="5120641" cy="12801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X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합계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P(X=x)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1/4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1/2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1/4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2" name="Rounded Rectangle 7"/>
          <p:cNvSpPr/>
          <p:nvPr/>
        </p:nvSpPr>
        <p:spPr>
          <a:xfrm>
            <a:off x="822960" y="3840479"/>
            <a:ext cx="5120641" cy="210312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8"/>
          <p:cNvSpPr txBox="1"/>
          <p:nvPr/>
        </p:nvSpPr>
        <p:spPr>
          <a:xfrm>
            <a:off x="1143000" y="4023359"/>
            <a:ext cx="44805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19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확률질량함수</a:t>
            </a:r>
          </a:p>
        </p:txBody>
      </p:sp>
      <p:sp>
        <p:nvSpPr>
          <p:cNvPr id="164" name="TextBox 9"/>
          <p:cNvSpPr txBox="1"/>
          <p:nvPr/>
        </p:nvSpPr>
        <p:spPr>
          <a:xfrm>
            <a:off x="1143000" y="4526279"/>
            <a:ext cx="4480561" cy="86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P(X = x</a:t>
            </a:r>
            <a:r>
              <a:rPr baseline="-25000"/>
              <a:t>i</a:t>
            </a:r>
            <a:r>
              <a:t>) = p</a:t>
            </a:r>
            <a:r>
              <a:rPr baseline="-25000"/>
              <a:t>i</a:t>
            </a:r>
            <a:r>
              <a:t>  (i = 1, 2, …, n)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확률분포를 나타내는 함수</a:t>
            </a:r>
          </a:p>
        </p:txBody>
      </p:sp>
      <p:pic>
        <p:nvPicPr>
          <p:cNvPr id="165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59" y="1948264"/>
            <a:ext cx="5394961" cy="3967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30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확률질량함수의 성질</a:t>
            </a:r>
          </a:p>
        </p:txBody>
      </p:sp>
      <p:sp>
        <p:nvSpPr>
          <p:cNvPr id="171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모든 확률은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과 </a:t>
            </a:r>
            <a:r>
              <a:t>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사이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 합은 </a:t>
            </a:r>
            <a:r>
              <a:t>1</a:t>
            </a:r>
          </a:p>
        </p:txBody>
      </p:sp>
      <p:sp>
        <p:nvSpPr>
          <p:cNvPr id="172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73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4" name="Rounded Rectangle 6"/>
          <p:cNvSpPr/>
          <p:nvPr/>
        </p:nvSpPr>
        <p:spPr>
          <a:xfrm>
            <a:off x="822960" y="1828800"/>
            <a:ext cx="5120641" cy="14630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7"/>
          <p:cNvSpPr txBox="1"/>
          <p:nvPr/>
        </p:nvSpPr>
        <p:spPr>
          <a:xfrm>
            <a:off x="1143000" y="2011679"/>
            <a:ext cx="4480561" cy="481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400">
                <a:solidFill>
                  <a:srgbClr val="E07A2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성질 </a:t>
            </a:r>
            <a:r>
              <a:t>1</a:t>
            </a:r>
          </a:p>
        </p:txBody>
      </p:sp>
      <p:sp>
        <p:nvSpPr>
          <p:cNvPr id="176" name="TextBox 8"/>
          <p:cNvSpPr txBox="1"/>
          <p:nvPr/>
        </p:nvSpPr>
        <p:spPr>
          <a:xfrm>
            <a:off x="1143000" y="2514599"/>
            <a:ext cx="4480561" cy="51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4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 ≤ p</a:t>
            </a:r>
            <a:r>
              <a:rPr baseline="-25000"/>
              <a:t>i</a:t>
            </a:r>
            <a:r>
              <a:t> ≤ 1</a:t>
            </a:r>
          </a:p>
        </p:txBody>
      </p:sp>
      <p:sp>
        <p:nvSpPr>
          <p:cNvPr id="177" name="Rounded Rectangle 9"/>
          <p:cNvSpPr/>
          <p:nvPr/>
        </p:nvSpPr>
        <p:spPr>
          <a:xfrm>
            <a:off x="6309359" y="1828800"/>
            <a:ext cx="5120641" cy="14630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10"/>
          <p:cNvSpPr txBox="1"/>
          <p:nvPr/>
        </p:nvSpPr>
        <p:spPr>
          <a:xfrm>
            <a:off x="6629400" y="2011679"/>
            <a:ext cx="4480561" cy="481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400">
                <a:solidFill>
                  <a:srgbClr val="E07A2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성질 </a:t>
            </a:r>
            <a:r>
              <a:t>2</a:t>
            </a:r>
          </a:p>
        </p:txBody>
      </p:sp>
      <p:sp>
        <p:nvSpPr>
          <p:cNvPr id="179" name="TextBox 11"/>
          <p:cNvSpPr txBox="1"/>
          <p:nvPr/>
        </p:nvSpPr>
        <p:spPr>
          <a:xfrm>
            <a:off x="6629400" y="2514599"/>
            <a:ext cx="4480561" cy="51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4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</a:t>
            </a:r>
            <a:r>
              <a:rPr baseline="-25000"/>
              <a:t>1</a:t>
            </a:r>
            <a:r>
              <a:t> + p</a:t>
            </a:r>
            <a:r>
              <a:rPr baseline="-25000"/>
              <a:t>2</a:t>
            </a:r>
            <a:r>
              <a:t> + … + p</a:t>
            </a:r>
            <a:r>
              <a:rPr baseline="-25000"/>
              <a:t>n</a:t>
            </a:r>
            <a:r>
              <a:t> = 1</a:t>
            </a:r>
          </a:p>
        </p:txBody>
      </p:sp>
      <p:pic>
        <p:nvPicPr>
          <p:cNvPr id="180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9687" y="3657600"/>
            <a:ext cx="9573585" cy="2377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공학 예시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부품 검사의 불량품 개수</a:t>
            </a:r>
          </a:p>
        </p:txBody>
      </p:sp>
      <p:sp>
        <p:nvSpPr>
          <p:cNvPr id="186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불량률 </a:t>
            </a:r>
            <a:r>
              <a:t>0.1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 공정에서 부품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검사  </a:t>
            </a:r>
            <a:r>
              <a:t>|  X 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불량품 개수</a:t>
            </a:r>
          </a:p>
        </p:txBody>
      </p:sp>
      <p:sp>
        <p:nvSpPr>
          <p:cNvPr id="187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188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189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19" y="1902193"/>
            <a:ext cx="5852161" cy="4150892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Rounded Rectangle 7"/>
          <p:cNvSpPr/>
          <p:nvPr/>
        </p:nvSpPr>
        <p:spPr>
          <a:xfrm>
            <a:off x="6949440" y="2011679"/>
            <a:ext cx="4663441" cy="356616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8"/>
          <p:cNvSpPr txBox="1"/>
          <p:nvPr/>
        </p:nvSpPr>
        <p:spPr>
          <a:xfrm>
            <a:off x="7269479" y="2194560"/>
            <a:ext cx="4023361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20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읽는 법</a:t>
            </a:r>
          </a:p>
        </p:txBody>
      </p:sp>
      <p:sp>
        <p:nvSpPr>
          <p:cNvPr id="192" name="TextBox 9"/>
          <p:cNvSpPr txBox="1"/>
          <p:nvPr/>
        </p:nvSpPr>
        <p:spPr>
          <a:xfrm>
            <a:off x="7269479" y="2697479"/>
            <a:ext cx="4023361" cy="1744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불량품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개일 확률이 가장 큼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이상일 확률 </a:t>
            </a:r>
            <a:r>
              <a:t>= 0.027 + 0.001</a:t>
            </a: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  = 0.028</a:t>
            </a:r>
          </a:p>
          <a:p>
            <a: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확률의 합 </a:t>
            </a:r>
            <a:r>
              <a:t>= 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연속확률변수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지하철 대기 시간</a:t>
            </a:r>
          </a:p>
        </p:txBody>
      </p:sp>
      <p:sp>
        <p:nvSpPr>
          <p:cNvPr id="198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 간격 운행  </a:t>
            </a:r>
            <a:r>
              <a:t>|  X 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기다리는 시간 </a:t>
            </a:r>
            <a:r>
              <a:t>(0 ≤ X ≤ 10)</a:t>
            </a:r>
          </a:p>
        </p:txBody>
      </p:sp>
      <p:sp>
        <p:nvSpPr>
          <p:cNvPr id="199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200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9</a:t>
            </a:r>
          </a:p>
        </p:txBody>
      </p:sp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19" y="1948316"/>
            <a:ext cx="6583682" cy="4058646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Rounded Rectangle 7"/>
          <p:cNvSpPr/>
          <p:nvPr/>
        </p:nvSpPr>
        <p:spPr>
          <a:xfrm>
            <a:off x="7680959" y="2011679"/>
            <a:ext cx="3931921" cy="356616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8"/>
          <p:cNvSpPr txBox="1"/>
          <p:nvPr/>
        </p:nvSpPr>
        <p:spPr>
          <a:xfrm>
            <a:off x="8001000" y="2194560"/>
            <a:ext cx="329184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19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핵심</a:t>
            </a:r>
          </a:p>
        </p:txBody>
      </p:sp>
      <p:sp>
        <p:nvSpPr>
          <p:cNvPr id="204" name="TextBox 9"/>
          <p:cNvSpPr txBox="1"/>
          <p:nvPr/>
        </p:nvSpPr>
        <p:spPr>
          <a:xfrm>
            <a:off x="8001000" y="2697479"/>
            <a:ext cx="3291840" cy="1255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확률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그래프 아래 넓이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P(a ≤ X ≤ b) = (b - a)/10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전체 넓이 </a:t>
            </a:r>
            <a:r>
              <a:t>=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30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확률밀도함수의 성질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y = f(x):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연속확률변수 </a:t>
            </a:r>
            <a:r>
              <a:t>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확률밀도함수</a:t>
            </a:r>
          </a:p>
        </p:txBody>
      </p:sp>
      <p:sp>
        <p:nvSpPr>
          <p:cNvPr id="211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212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1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" y="1947533"/>
            <a:ext cx="6126480" cy="4060214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Rounded Rectangle 7"/>
          <p:cNvSpPr/>
          <p:nvPr/>
        </p:nvSpPr>
        <p:spPr>
          <a:xfrm>
            <a:off x="7132319" y="1828800"/>
            <a:ext cx="4480561" cy="420624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8"/>
          <p:cNvSpPr txBox="1"/>
          <p:nvPr/>
        </p:nvSpPr>
        <p:spPr>
          <a:xfrm>
            <a:off x="7452360" y="2011679"/>
            <a:ext cx="384048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E07A2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α ≤ x ≤ β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에서</a:t>
            </a:r>
          </a:p>
        </p:txBody>
      </p:sp>
      <p:sp>
        <p:nvSpPr>
          <p:cNvPr id="216" name="TextBox 9"/>
          <p:cNvSpPr txBox="1"/>
          <p:nvPr/>
        </p:nvSpPr>
        <p:spPr>
          <a:xfrm>
            <a:off x="7452360" y="2514599"/>
            <a:ext cx="3840481" cy="167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① f(x) ≥ 0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②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그래프와 </a:t>
            </a:r>
            <a:r>
              <a:t>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축 사이 넓이 </a:t>
            </a:r>
            <a:r>
              <a:t>= 1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③ P(a ≤ X ≤ b)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    = x = a, x = 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사이의 넓이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연속확률변수에서 한 점의 확률 </a:t>
            </a:r>
            <a:r>
              <a:t>= 0</a:t>
            </a:r>
          </a:p>
        </p:txBody>
      </p:sp>
      <p:sp>
        <p:nvSpPr>
          <p:cNvPr id="222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선분의 넓이는 </a:t>
            </a:r>
            <a:r>
              <a:t>0  →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등호 포함 여부와 무관한 확률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224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11</a:t>
            </a:r>
          </a:p>
        </p:txBody>
      </p:sp>
      <p:pic>
        <p:nvPicPr>
          <p:cNvPr id="22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1920419"/>
            <a:ext cx="11064241" cy="2559962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Rounded Rectangle 7"/>
          <p:cNvSpPr/>
          <p:nvPr/>
        </p:nvSpPr>
        <p:spPr>
          <a:xfrm>
            <a:off x="2011679" y="4754879"/>
            <a:ext cx="8138161" cy="146304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8"/>
          <p:cNvSpPr txBox="1"/>
          <p:nvPr/>
        </p:nvSpPr>
        <p:spPr>
          <a:xfrm>
            <a:off x="2331720" y="4937759"/>
            <a:ext cx="749807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20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결론</a:t>
            </a:r>
          </a:p>
        </p:txBody>
      </p:sp>
      <p:sp>
        <p:nvSpPr>
          <p:cNvPr id="228" name="TextBox 9"/>
          <p:cNvSpPr txBox="1"/>
          <p:nvPr/>
        </p:nvSpPr>
        <p:spPr>
          <a:xfrm>
            <a:off x="2331720" y="5440679"/>
            <a:ext cx="749807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sz="20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P(a ≤ X ≤ b) = P(a &lt; X ≤ b) = P(a &lt; X &lt; b)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공학 예시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부품 수명</a:t>
            </a:r>
          </a:p>
        </p:txBody>
      </p:sp>
      <p:sp>
        <p:nvSpPr>
          <p:cNvPr id="234" name="TextBox 3"/>
          <p:cNvSpPr txBox="1"/>
          <p:nvPr/>
        </p:nvSpPr>
        <p:spPr>
          <a:xfrm>
            <a:off x="822959" y="1097280"/>
            <a:ext cx="10698482" cy="414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평균 수명 </a:t>
            </a:r>
            <a:r>
              <a:t>1000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시간인 부품  </a:t>
            </a:r>
            <a:r>
              <a:t>|  X 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고장까지의 시간</a:t>
            </a:r>
          </a:p>
        </p:txBody>
      </p:sp>
      <p:sp>
        <p:nvSpPr>
          <p:cNvPr id="235" name="TextBox 4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236" name="TextBox 5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12</a:t>
            </a:r>
          </a:p>
        </p:txBody>
      </p:sp>
      <p:pic>
        <p:nvPicPr>
          <p:cNvPr id="23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" y="1920987"/>
            <a:ext cx="6766560" cy="4113305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Rounded Rectangle 7"/>
          <p:cNvSpPr/>
          <p:nvPr/>
        </p:nvSpPr>
        <p:spPr>
          <a:xfrm>
            <a:off x="7772400" y="2011679"/>
            <a:ext cx="3840480" cy="356616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8"/>
          <p:cNvSpPr txBox="1"/>
          <p:nvPr/>
        </p:nvSpPr>
        <p:spPr>
          <a:xfrm>
            <a:off x="8092439" y="2194560"/>
            <a:ext cx="32004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1900">
                <a:solidFill>
                  <a:srgbClr val="E07A2E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해석</a:t>
            </a:r>
          </a:p>
        </p:txBody>
      </p:sp>
      <p:sp>
        <p:nvSpPr>
          <p:cNvPr id="240" name="TextBox 9"/>
          <p:cNvSpPr txBox="1"/>
          <p:nvPr/>
        </p:nvSpPr>
        <p:spPr>
          <a:xfrm>
            <a:off x="8092439" y="2697479"/>
            <a:ext cx="3200401" cy="1691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500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시간 안의 고장 확률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  ≈ 0.39</a:t>
            </a: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곡선 아래 넓이로 계산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>
              <a:spcBef>
                <a:spcPts val="1000"/>
              </a:spcBef>
              <a:defRPr sz="19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보증 기간 설정의 근거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3000">
                <a:solidFill>
                  <a:srgbClr val="1F3A5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요약</a:t>
            </a:r>
            <a:r>
              <a:t>: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이산 </a:t>
            </a:r>
            <a:r>
              <a:t>vs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연속</a:t>
            </a:r>
          </a:p>
        </p:txBody>
      </p:sp>
      <p:sp>
        <p:nvSpPr>
          <p:cNvPr id="246" name="TextBox 3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13</a:t>
            </a:r>
          </a:p>
        </p:txBody>
      </p:sp>
      <p:graphicFrame>
        <p:nvGraphicFramePr>
          <p:cNvPr id="247" name="Table 4"/>
          <p:cNvGraphicFramePr/>
          <p:nvPr/>
        </p:nvGraphicFramePr>
        <p:xfrm>
          <a:off x="822960" y="1554480"/>
          <a:ext cx="10515601" cy="448056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900"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이산확률변수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900"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연속확률변수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취하는 값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셀 수 있는 값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구간 안의 모든 실수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분포 함수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확률질량함수 </a:t>
                      </a:r>
                      <a:r>
                        <a:t>P(X = x</a:t>
                      </a:r>
                      <a:r>
                        <a:rPr baseline="-25000"/>
                        <a:t>i</a:t>
                      </a:r>
                      <a:r>
                        <a:t>) = p</a:t>
                      </a:r>
                      <a:r>
                        <a:rPr baseline="-25000"/>
                        <a:t>i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확률밀도함수 </a:t>
                      </a:r>
                      <a:r>
                        <a:t>f(x)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확률 계산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확률의 합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그래프 아래 넓이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전체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t>p</a:t>
                      </a:r>
                      <a:r>
                        <a:rPr baseline="-25000"/>
                        <a:t>1</a:t>
                      </a:r>
                      <a:r>
                        <a:t> + … + p</a:t>
                      </a:r>
                      <a:r>
                        <a:rPr baseline="-25000"/>
                        <a:t>n</a:t>
                      </a:r>
                      <a:r>
                        <a:t> = 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전체 넓이 </a:t>
                      </a:r>
                      <a:r>
                        <a:t>= 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한 점의 확률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t>0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이상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항상 </a:t>
                      </a:r>
                      <a:r>
                        <a:t>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1F3A5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공학 예시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불량품 개수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>
                          <a:solidFill>
                            <a:srgbClr val="222222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대기 시간</a:t>
                      </a:r>
                      <a:r>
                        <a:t>,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부품 수명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548640" y="502919"/>
            <a:ext cx="109729" cy="548641"/>
          </a:xfrm>
          <a:prstGeom prst="rect">
            <a:avLst/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2"/>
          <p:cNvSpPr txBox="1"/>
          <p:nvPr/>
        </p:nvSpPr>
        <p:spPr>
          <a:xfrm>
            <a:off x="822960" y="384047"/>
            <a:ext cx="10424161" cy="57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 sz="3000">
                <a:solidFill>
                  <a:srgbClr val="1F3A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확인 퀴즈</a:t>
            </a:r>
          </a:p>
        </p:txBody>
      </p:sp>
      <p:sp>
        <p:nvSpPr>
          <p:cNvPr id="253" name="TextBox 3"/>
          <p:cNvSpPr txBox="1"/>
          <p:nvPr/>
        </p:nvSpPr>
        <p:spPr>
          <a:xfrm>
            <a:off x="594360" y="6355079"/>
            <a:ext cx="72237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출처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동아 확률과 통계 </a:t>
            </a:r>
            <a:r>
              <a:t>Ⅲ-1.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확률분포 </a:t>
            </a:r>
            <a:r>
              <a:t>(pp. 81–85)</a:t>
            </a:r>
          </a:p>
        </p:txBody>
      </p:sp>
      <p:sp>
        <p:nvSpPr>
          <p:cNvPr id="254" name="TextBox 4"/>
          <p:cNvSpPr txBox="1"/>
          <p:nvPr/>
        </p:nvSpPr>
        <p:spPr>
          <a:xfrm>
            <a:off x="11018519" y="6355079"/>
            <a:ext cx="64008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000"/>
              </a:spcBef>
              <a:defRPr sz="1200">
                <a:solidFill>
                  <a:srgbClr val="888888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55" name="Rounded Rectangle 5"/>
          <p:cNvSpPr/>
          <p:nvPr/>
        </p:nvSpPr>
        <p:spPr>
          <a:xfrm>
            <a:off x="822960" y="1463039"/>
            <a:ext cx="868681" cy="868681"/>
          </a:xfrm>
          <a:prstGeom prst="roundRect">
            <a:avLst>
              <a:gd name="adj" fmla="val 16667"/>
            </a:avLst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6"/>
          <p:cNvSpPr txBox="1"/>
          <p:nvPr/>
        </p:nvSpPr>
        <p:spPr>
          <a:xfrm>
            <a:off x="868680" y="1680209"/>
            <a:ext cx="77724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Q1</a:t>
            </a:r>
          </a:p>
        </p:txBody>
      </p:sp>
      <p:sp>
        <p:nvSpPr>
          <p:cNvPr id="257" name="TextBox 7"/>
          <p:cNvSpPr txBox="1"/>
          <p:nvPr/>
        </p:nvSpPr>
        <p:spPr>
          <a:xfrm>
            <a:off x="1965959" y="1797872"/>
            <a:ext cx="9509761" cy="427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1000"/>
              </a:spcBef>
              <a:defRPr sz="21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100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원짜리 동전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개를 동시에 던질 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앞면의 개수 </a:t>
            </a:r>
            <a:r>
              <a:t>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취하는 모든 값</a:t>
            </a:r>
          </a:p>
        </p:txBody>
      </p:sp>
      <p:sp>
        <p:nvSpPr>
          <p:cNvPr id="258" name="Rounded Rectangle 8"/>
          <p:cNvSpPr/>
          <p:nvPr/>
        </p:nvSpPr>
        <p:spPr>
          <a:xfrm>
            <a:off x="822960" y="3063239"/>
            <a:ext cx="868681" cy="868681"/>
          </a:xfrm>
          <a:prstGeom prst="roundRect">
            <a:avLst>
              <a:gd name="adj" fmla="val 16667"/>
            </a:avLst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9"/>
          <p:cNvSpPr txBox="1"/>
          <p:nvPr/>
        </p:nvSpPr>
        <p:spPr>
          <a:xfrm>
            <a:off x="868680" y="3280409"/>
            <a:ext cx="77724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Q2</a:t>
            </a:r>
          </a:p>
        </p:txBody>
      </p:sp>
      <p:sp>
        <p:nvSpPr>
          <p:cNvPr id="260" name="TextBox 10"/>
          <p:cNvSpPr txBox="1"/>
          <p:nvPr/>
        </p:nvSpPr>
        <p:spPr>
          <a:xfrm>
            <a:off x="1965959" y="3398072"/>
            <a:ext cx="9509761" cy="427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1000"/>
              </a:spcBef>
              <a:defRPr sz="21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확률분포가 </a:t>
            </a:r>
            <a:r>
              <a:t>P(X=1) = k, P(X=2) = 2k, P(X=3) = 3k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 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상수 </a:t>
            </a:r>
            <a:r>
              <a:t>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값과 </a:t>
            </a:r>
            <a:r>
              <a:t>P(X ≥ 2)</a:t>
            </a:r>
          </a:p>
        </p:txBody>
      </p:sp>
      <p:sp>
        <p:nvSpPr>
          <p:cNvPr id="261" name="Rounded Rectangle 11"/>
          <p:cNvSpPr/>
          <p:nvPr/>
        </p:nvSpPr>
        <p:spPr>
          <a:xfrm>
            <a:off x="822960" y="4663440"/>
            <a:ext cx="868681" cy="868681"/>
          </a:xfrm>
          <a:prstGeom prst="roundRect">
            <a:avLst>
              <a:gd name="adj" fmla="val 16667"/>
            </a:avLst>
          </a:prstGeom>
          <a:solidFill>
            <a:srgbClr val="E07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12"/>
          <p:cNvSpPr txBox="1"/>
          <p:nvPr/>
        </p:nvSpPr>
        <p:spPr>
          <a:xfrm>
            <a:off x="868680" y="4880610"/>
            <a:ext cx="77724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1000"/>
              </a:spcBef>
              <a:defRPr sz="2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Q3</a:t>
            </a:r>
          </a:p>
        </p:txBody>
      </p:sp>
      <p:sp>
        <p:nvSpPr>
          <p:cNvPr id="263" name="TextBox 13"/>
          <p:cNvSpPr txBox="1"/>
          <p:nvPr/>
        </p:nvSpPr>
        <p:spPr>
          <a:xfrm>
            <a:off x="1965959" y="4839522"/>
            <a:ext cx="5943602" cy="74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1000"/>
              </a:spcBef>
              <a:defRPr sz="2100">
                <a:solidFill>
                  <a:srgbClr val="222222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 ≤ X ≤ 4,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확률밀도함수 </a:t>
            </a:r>
            <a:r>
              <a:t>f(x) = kx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 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상수 </a:t>
            </a:r>
            <a:r>
              <a:t>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값과 </a:t>
            </a:r>
            <a:r>
              <a:t>P(0 ≤ X ≤ 2)</a:t>
            </a:r>
          </a:p>
        </p:txBody>
      </p:sp>
      <p:pic>
        <p:nvPicPr>
          <p:cNvPr id="264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64037" y="3840479"/>
            <a:ext cx="2714404" cy="24688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